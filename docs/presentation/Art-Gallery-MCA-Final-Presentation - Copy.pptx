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FINAL YEAR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Class Diagram  ·  ER Diagram  ·  Data Dictionary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0" y="3200400"/>
          <a:ext cx="6400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Enter Student Name 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 Number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Enter Enrollment Number 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College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Enter College Name 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Enter Guide Name 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Enter Academic Year 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188720"/>
            <a:ext cx="11155680" cy="4846320"/>
          </a:xfrm>
          <a:prstGeom prst="roundRect">
            <a:avLst>
              <a:gd name="adj" fmla="val 1132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Gallery Management System is a web-based application developed to manage information related to artists, artworks, categories, exhibitions, and visitor inquiries.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provides a centralized platform for managing gallery information and allows visitors to explore artworks and contact the gallery.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designed as an MCA final-year individual project using React.js on the frontend and ASP.NET Core Web API with SQL Server on the backend.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art gallery information management can involve manual records or scattered information.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becomes difficult to manage: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Artists and their profile details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63347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Artworks and their categories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07238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Exhibitions and assigned artworks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511296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Visitor inquiries and follow-up status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297680"/>
            <a:ext cx="11155680" cy="1554480"/>
          </a:xfrm>
          <a:prstGeom prst="roundRect">
            <a:avLst>
              <a:gd name="adj" fmla="val 3529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6634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 A centralized web-based Art Gallery Management System with secure login, role-based access, and a clear database design for gallery data.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14300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Develop a web-based Art Gallery Management System.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581912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 artist information.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020824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 artwork information and organize categories.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459736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 exhibitions and artwork assignments.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898648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Allow visitors to explore artworks.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Allow visitors to submit inquiries.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776472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Implement secure authentication using JWT and ASP.NET Core Identity.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215384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Implement role-based access control (Admin, Artist, Visitor).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43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27432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1645920"/>
            <a:ext cx="274320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2024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37560" y="1143000"/>
            <a:ext cx="27432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37560" y="1645920"/>
            <a:ext cx="274320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92024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1143000"/>
            <a:ext cx="27432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63640" y="1645920"/>
            <a:ext cx="274320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92024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Database-first SQL scripts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89720" y="1143000"/>
            <a:ext cx="27432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89720" y="1645920"/>
            <a:ext cx="274320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0" y="192024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Identity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4937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Deployment (optional later): Microsoft Azure App Service, Azure SQL Database, Azure Blob Storage.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Users and Roles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097280"/>
            <a:ext cx="11155680" cy="1463040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325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01752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artists, categories, artworks, exhibitions, users, and inquiries.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administration.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2743200"/>
            <a:ext cx="11155680" cy="1463040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71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017520" y="3017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account with Artist role.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Planned: view/update profile and own artworks (Artist Dashboard).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389120"/>
            <a:ext cx="11155680" cy="1463040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617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017520" y="4663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public gallery pages.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contact inquiries.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registration.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43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113385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77824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Modules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Authentication, User Management, Artist, Category, Artwork, Exhibition, Inquiry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Modules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Page, Public Gallery, Artwork browsing, Contact / Inquiry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Extended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Artist Dashboard, Search and Filtering, API-backed gallery details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Scope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Purchase, Payment, Cart, Mobile App, AI Recommendations, Virtual Gallery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5760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Planned modules remain part of the project blueprint even if implemented later.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097280"/>
            <a:ext cx="7589520" cy="777240"/>
          </a:xfrm>
          <a:prstGeom prst="roundRect">
            <a:avLst>
              <a:gd name="adj" fmla="val 470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17043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68880" y="148132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forms, routing, JWT storage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0" y="1810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86000" y="2057400"/>
            <a:ext cx="7589520" cy="777240"/>
          </a:xfrm>
          <a:prstGeom prst="roundRect">
            <a:avLst>
              <a:gd name="adj" fmla="val 4706"/>
            </a:avLst>
          </a:prstGeom>
          <a:solidFill>
            <a:srgbClr val="33415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213055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68880" y="244144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Controllers, services, validation, JWT auth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0" y="27706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86000" y="3017520"/>
            <a:ext cx="7589520" cy="777240"/>
          </a:xfrm>
          <a:prstGeom prst="roundRect">
            <a:avLst>
              <a:gd name="adj" fmla="val 470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309067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+ Identity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68880" y="340156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and user authentication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0" y="37307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286000" y="3977640"/>
            <a:ext cx="7589520" cy="777240"/>
          </a:xfrm>
          <a:prstGeom prst="roundRect">
            <a:avLst>
              <a:gd name="adj" fmla="val 4706"/>
            </a:avLst>
          </a:prstGeom>
          <a:solidFill>
            <a:srgbClr val="33415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405079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468880" y="436168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(database-first scripts)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later: Azure App Service → Azure SQL Database / Blob Storage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Class Diagram — 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UML Class Diagram represents the main classes and relationships used in the backend application.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ApplicationUser (inherits IdentityUser&lt;Guid&gt;) — implemented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63347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Artist, Category, Artwork, Exhibition, ExhibitionArtwork, Inquiry — planned domain model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7947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ArtworkStatus: Available, Sold, Displayed, Archived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23367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InquiryStatus: New, Read, Responded, Closed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5029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are managed by ASP.NET Core Identity (AspNetRoles / AspNetUserRoles), not as a string field on ApplicationUser.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Class Diagram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43</a:t>
            </a:r>
            <a:endParaRPr lang="en-US" sz="1100" dirty="0"/>
          </a:p>
        </p:txBody>
      </p:sp>
      <p:pic>
        <p:nvPicPr>
          <p:cNvPr id="8" name="Image 0" descr="D:\Janki\Project\canvas-connect\canvas-connect\docs\diagrams\art-gallery-class-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914400"/>
            <a:ext cx="1152144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Relationship Explanation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43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113385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194560"/>
                <a:gridCol w="54864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Artist → Artwork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→ Many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artist can create many artworks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→ Artwork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→ Many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category can contain many artworks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Exhibition → ExhibitionArtwork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→ Many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exhibition has many artwork links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Artwork → ExhibitionArtwork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→ Many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artwork can appear in many exhibitions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Exhibition ↔ Artwork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↔ Many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 using ExhibitionArtwork junction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ApplicationUser and Artist are separate. Inquiry has no required link to a logged-in user.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— 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 Diagram represents the database structure used by the system.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Tables, Primary Keys (PK), and Foreign Keys (FK)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63347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Relationships and cardinality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07238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Identity tables for authentication (AspNetUsers, AspNetRoles, AspNetUserRoles)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511296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Planned business tables: Artists, Categories, Artworks, Exhibitions, ExhibitionArtworks, Inquiries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role management use ASP.NET Core Identity. Internal Identity tables are summarized for academic clarity.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43</a:t>
            </a:r>
            <a:endParaRPr lang="en-US" sz="1100" dirty="0"/>
          </a:p>
        </p:txBody>
      </p:sp>
      <p:pic>
        <p:nvPicPr>
          <p:cNvPr id="8" name="Image 0" descr="D:\Janki\Project\canvas-connect\canvas-connect\docs\diagrams\art-gallery-er-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868680"/>
            <a:ext cx="1170432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Relationships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43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56616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Table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Table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Artworks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One-to-Many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Artworks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One-to-Many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Exhibitions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ExhibitionArtworks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One-to-Many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Artworks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ExhibitionArtworks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One-to-Many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AspNetUsers / AspNetRoles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AspNetUserRoles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Many-to-Many (Identity)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029200"/>
            <a:ext cx="10881360" cy="1051560"/>
          </a:xfrm>
          <a:prstGeom prst="roundRect">
            <a:avLst>
              <a:gd name="adj" fmla="val 4348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52578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Exhibition and Artwork have a Many-to-Many relationship through the ExhibitionArtworks junction table. Unique constraint: (ExhibitionId, ArtworkId).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—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Dictionary defines every database field used by the Art Gallery Management System.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680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AspNetUsers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users (ASP.NET Core Identity / ApplicationUser)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AspNetRoles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Roles: Admin, Artist, Visitor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AspNetUserRoles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User–Role mapping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Artist gallery profiles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Artwork categories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Artworks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Artwork records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Exhibitions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Exhibition events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ExhibitionArtworks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Exhibition ↔ Artwork junction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Inquiries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Visitor contact messages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— AspNetUsers (1/2)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ApplicationUser storage. No Role column — roles use AspNetUserRoles.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11521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377440"/>
                <a:gridCol w="914400"/>
                <a:gridCol w="914400"/>
                <a:gridCol w="50292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uniqueidentifier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primary key (Identity)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nvarchar(80)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name (custom field)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nvarchar(256)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user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NormalizedUserName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nvarchar(256)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 user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nvarchar(256)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address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nvarchar(256)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 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EmailConfirmed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confirmation flag (default 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PasswordHash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nvarchar(MAX)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password hash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SecurityStamp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nvarchar(MAX)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security stamp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— AspNetUsers (2/2)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43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11521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377440"/>
                <a:gridCol w="914400"/>
                <a:gridCol w="914400"/>
                <a:gridCol w="50292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ConcurrencyStamp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nvarchar(MAX)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Concurrency token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PhoneNumber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nvarchar(MAX)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phone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PhoneNumberConfirmed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confirmation (default 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TwoFactorEnabled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2FA flag (default 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LockoutEnd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datetimeoffset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Lockout end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LockoutEnabled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Lockout enabled (default 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AccessFailedCount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login count (default 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datetime2(3)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created UTC (SYSUTCDATETIME)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datetime2(3)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update UTC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— AspNetRoles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application roles: Admin, Artist, Visitor.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11521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377440"/>
                <a:gridCol w="914400"/>
                <a:gridCol w="914400"/>
                <a:gridCol w="50292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uniqueidentifier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nvarchar(256)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nvarchar(256)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 role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ConcurrencyStamp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nvarchar(MAX)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Concurrency token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— AspNetUserRoles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link between users and roles.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11521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377440"/>
                <a:gridCol w="914400"/>
                <a:gridCol w="914400"/>
                <a:gridCol w="50292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uniqueidentifier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PK, FK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AspNetUsers.Id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uniqueidentifier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PK, FK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AspNetRoles.Id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— Artists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gallery artist profile table (separate from login user).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11521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377440"/>
                <a:gridCol w="914400"/>
                <a:gridCol w="914400"/>
                <a:gridCol w="50292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ArtistId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uniqueidentifier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artist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nvarchar(150)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Artist full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Biography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nvarchar(MAX)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Biography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nvarchar(100)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DateOfBirth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of birth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ProfileImageUrl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nvarchar(500)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image URL/path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(UTC)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 (UTC)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— Categories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artwork category table.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11521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377440"/>
                <a:gridCol w="914400"/>
                <a:gridCol w="914400"/>
                <a:gridCol w="50292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uniqueidentifier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category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nvarchar(100)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nvarchar(500)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(UTC)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— Artworks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artwork table. Status uses ArtworkStatus enum (int).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11521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377440"/>
                <a:gridCol w="914400"/>
                <a:gridCol w="91440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ArtworkId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uniqueidentifier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artwork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nvarchar(200)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nvarchar(MAX)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ArtistId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uniqueidentifier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Artists.ArtistId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uniqueidentifier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Categories.CategoryId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decimal(18,2)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YearCreated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created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ImageUrl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nvarchar(500)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URL/path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ArtworkStatus (default 0 Available)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(UTC)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 (UTC)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— Exhibitions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exhibition table.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11521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377440"/>
                <a:gridCol w="914400"/>
                <a:gridCol w="914400"/>
                <a:gridCol w="50292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ExhibitionId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uniqueidentifier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exhibition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nvarchar(200)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Exhibition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nvarchar(MAX)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nvarchar(200)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(UTC)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 (UTC)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— ExhibitionArtworks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table. Unique constraint: (ExhibitionId, ArtworkId).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11521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377440"/>
                <a:gridCol w="914400"/>
                <a:gridCol w="914400"/>
                <a:gridCol w="50292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ExhibitionArtworkId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uniqueidentifier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Junction row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ExhibitionId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uniqueidentifier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Exhibitions.ExhibitionId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ArtworkId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uniqueidentifier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Artworks.ArtworkId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created (UTC)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— Inquiries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inquiries. No UserId FK — anonymous contact allowed.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11521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377440"/>
                <a:gridCol w="914400"/>
                <a:gridCol w="914400"/>
                <a:gridCol w="50292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InquiryId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uniqueidentifier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inquiry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nvarchar(150)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Visitor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nvarchar(256)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Visitor 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nvarchar(30)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phone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nvarchar(200)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nvarchar(MAX)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InquiryStatus (default 0 New)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Submitted (UTC)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— Enums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5486400" cy="4846320"/>
          </a:xfrm>
          <a:prstGeom prst="roundRect">
            <a:avLst>
              <a:gd name="adj" fmla="val 943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ArtworkStatus</a:t>
            </a:r>
            <a:endParaRPr lang="en-US" sz="1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50292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24688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Currently displayed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217920" y="1097280"/>
            <a:ext cx="5486400" cy="4846320"/>
          </a:xfrm>
          <a:prstGeom prst="roundRect">
            <a:avLst>
              <a:gd name="adj" fmla="val 943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InquiryStatus</a:t>
            </a:r>
            <a:endParaRPr lang="en-US" sz="180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28800"/>
          <a:ext cx="50292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24688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Newly submitted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Gallery responded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Database Design Decisions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105156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 (uniqueidentifier) — consistent with ASP.NET Identity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vs User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187452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profile and login user are separate concepts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ExhibitionArtwork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269748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table to solve Exhibition ↔ Artwork many-to-many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35204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352044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ArtworkStatus and InquiryStatus stored as int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Storage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0" y="434340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stores URL/path; files may use Azure Blob later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166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Roles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0" y="516636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via AspNetRoles / AspNetUserRoles (not a Role string column)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Implementation Status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43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051560"/>
          <a:ext cx="9966960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4023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 (Identity + JWT)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/ Public Website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Management (list visitors/artists)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Gallery (Explore UI)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(mock data)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form 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(API pending)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Artist Dashboard (basic page)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Artist Management (domain CRUD)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/ Artwork / Exhibition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Inquiry Management (admin + API)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future enhancements. They are not required for the initial MCA implementation and are not added to the current ER diagram.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Online artwork purchasing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Payment gateway integration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Shopping cart / wishlist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Artwork reviews and ratings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1920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Mobile application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0" y="25603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AI-based recommendations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0" y="3200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Virtual gallery tour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0" y="38404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Multi-language support / advanced reports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Gallery Management System provides a centralized web-based solution for managing gallery information.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includes: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Secure authentication and role-based access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90779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Artist, artwork, category, and exhibition management (planned modules documented)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34670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Visitor inquiry management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785616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Clear UML, ER, and Data Dictionary for database design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846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modular architecture allows additional features to be added in the future without redesigning the core database.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Screenshots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following slides show the implemented frontend screens in order.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screenshots from the Screen Shots folder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Home Page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43</a:t>
            </a:r>
            <a:endParaRPr lang="en-US" sz="1100" dirty="0"/>
          </a:p>
        </p:txBody>
      </p:sp>
      <p:pic>
        <p:nvPicPr>
          <p:cNvPr id="8" name="Image 0" descr="D:\Janki\Project\canvas-connect\canvas-connect\docs\presentation\Screen Shots\1-Home 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60120"/>
            <a:ext cx="111556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Explore Page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43</a:t>
            </a:r>
            <a:endParaRPr lang="en-US" sz="1100" dirty="0"/>
          </a:p>
        </p:txBody>
      </p:sp>
      <p:pic>
        <p:nvPicPr>
          <p:cNvPr id="8" name="Image 0" descr="D:\Janki\Project\canvas-connect\canvas-connect\docs\presentation\Screen Shots\2-Explore 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60120"/>
            <a:ext cx="111556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Contact Page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43</a:t>
            </a:r>
            <a:endParaRPr lang="en-US" sz="1100" dirty="0"/>
          </a:p>
        </p:txBody>
      </p:sp>
      <p:pic>
        <p:nvPicPr>
          <p:cNvPr id="8" name="Image 0" descr="D:\Janki\Project\canvas-connect\canvas-connect\docs\presentation\Screen Shots\3-Contact 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60120"/>
            <a:ext cx="111556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Signup Page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43</a:t>
            </a:r>
            <a:endParaRPr lang="en-US" sz="1100" dirty="0"/>
          </a:p>
        </p:txBody>
      </p:sp>
      <p:pic>
        <p:nvPicPr>
          <p:cNvPr id="8" name="Image 0" descr="D:\Janki\Project\canvas-connect\canvas-connect\docs\presentation\Screen Shots\4-Signup 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60120"/>
            <a:ext cx="111556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Signin Page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43</a:t>
            </a:r>
            <a:endParaRPr lang="en-US" sz="1100" dirty="0"/>
          </a:p>
        </p:txBody>
      </p:sp>
      <p:pic>
        <p:nvPicPr>
          <p:cNvPr id="8" name="Image 0" descr="D:\Janki\Project\canvas-connect\canvas-connect\docs\presentation\Screen Shots\5-Signin 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60120"/>
            <a:ext cx="111556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Admin Layout Page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43</a:t>
            </a:r>
            <a:endParaRPr lang="en-US" sz="1100" dirty="0"/>
          </a:p>
        </p:txBody>
      </p:sp>
      <p:pic>
        <p:nvPicPr>
          <p:cNvPr id="8" name="Image 0" descr="D:\Janki\Project\canvas-connect\canvas-connect\docs\presentation\Screen Shots\6-Admin Layout 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60120"/>
            <a:ext cx="111556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Visitor List Page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43</a:t>
            </a:r>
            <a:endParaRPr lang="en-US" sz="1100" dirty="0"/>
          </a:p>
        </p:txBody>
      </p:sp>
      <p:pic>
        <p:nvPicPr>
          <p:cNvPr id="8" name="Image 0" descr="D:\Janki\Project\canvas-connect\canvas-connect\docs\presentation\Screen Shots\7-Visitor List 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60120"/>
            <a:ext cx="111556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Artist List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43</a:t>
            </a:r>
            <a:endParaRPr lang="en-US" sz="1100" dirty="0"/>
          </a:p>
        </p:txBody>
      </p:sp>
      <p:pic>
        <p:nvPicPr>
          <p:cNvPr id="8" name="Image 0" descr="D:\Janki\Project\canvas-connect\canvas-connect\docs\presentation\Screen Shots\8-Artist 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60120"/>
            <a:ext cx="111556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Signout Confirm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43</a:t>
            </a:r>
            <a:endParaRPr lang="en-US" sz="1100" dirty="0"/>
          </a:p>
        </p:txBody>
      </p:sp>
      <p:pic>
        <p:nvPicPr>
          <p:cNvPr id="8" name="Image 0" descr="D:\Janki\Project\canvas-connect\canvas-connect\docs\presentation\Screen Shots\9-Signout Confi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60120"/>
            <a:ext cx="111556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Artist studio Page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43</a:t>
            </a:r>
            <a:endParaRPr lang="en-US" sz="1100" dirty="0"/>
          </a:p>
        </p:txBody>
      </p:sp>
      <p:pic>
        <p:nvPicPr>
          <p:cNvPr id="8" name="Image 0" descr="D:\Janki\Project\canvas-connect\canvas-connect\docs\presentation\Screen Shots\10-Artist studio 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60120"/>
            <a:ext cx="111556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Visitor home page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43</a:t>
            </a:r>
            <a:endParaRPr lang="en-US" sz="1100" dirty="0"/>
          </a:p>
        </p:txBody>
      </p:sp>
      <p:pic>
        <p:nvPicPr>
          <p:cNvPr id="8" name="Image 0" descr="D:\Janki\Project\canvas-connect\canvas-connect\docs\presentation\Screen Shots\11-Visitor home 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60120"/>
            <a:ext cx="111556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3774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Answers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Gallery Management System  |  MCA Final Year Project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 Gallery Management System</dc:title>
  <dc:subject>UML, ER Diagram, Data Dictionary</dc:subject>
  <dc:creator>MCA Final Year Project</dc:creator>
  <cp:lastModifiedBy>MCA Final Year Project</cp:lastModifiedBy>
  <cp:revision>1</cp:revision>
  <dcterms:created xsi:type="dcterms:W3CDTF">2026-09-09T03:48:51Z</dcterms:created>
  <dcterms:modified xsi:type="dcterms:W3CDTF">2026-09-09T03:48:51Z</dcterms:modified>
</cp:coreProperties>
</file>